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  <p:embeddedFontLst>
    <p:embeddedFont>
      <p:font typeface="MiSans" pitchFamily="34" charset="-122"/>
      <p:regular r:id="rId27"/>
    </p:embeddedFont>
    <p:embeddedFont>
      <p:font typeface="MiSans" pitchFamily="34" charset="-120"/>
      <p:regular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font" Target="fonts/font6.fntdata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" Target="slides/slide1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11.jpeg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7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7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8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1.png"/><Relationship Id="rId3" Type="http://schemas.openxmlformats.org/officeDocument/2006/relationships/image" Target="../media/image18.png"/><Relationship Id="rId2" Type="http://schemas.openxmlformats.org/officeDocument/2006/relationships/image" Target="../media/image30.jpeg"/><Relationship Id="rId1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1.png"/><Relationship Id="rId3" Type="http://schemas.openxmlformats.org/officeDocument/2006/relationships/image" Target="../media/image18.png"/><Relationship Id="rId2" Type="http://schemas.openxmlformats.org/officeDocument/2006/relationships/image" Target="../media/image32.png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9.png"/><Relationship Id="rId7" Type="http://schemas.openxmlformats.org/officeDocument/2006/relationships/image" Target="../media/image38.png"/><Relationship Id="rId6" Type="http://schemas.openxmlformats.org/officeDocument/2006/relationships/image" Target="../media/image6.png"/><Relationship Id="rId5" Type="http://schemas.openxmlformats.org/officeDocument/2006/relationships/image" Target="../media/image37.png"/><Relationship Id="rId4" Type="http://schemas.openxmlformats.org/officeDocument/2006/relationships/image" Target="../media/image31.png"/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0" Type="http://schemas.openxmlformats.org/officeDocument/2006/relationships/notesSlide" Target="../notesSlides/notesSlide18.xml"/><Relationship Id="rId1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jpe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2:53-d2v6pndnfo2stf9dk5og.jpeg"/>
          <p:cNvPicPr>
            <a:picLocks noChangeAspect="1"/>
          </p:cNvPicPr>
          <p:nvPr/>
        </p:nvPicPr>
        <p:blipFill>
          <a:blip r:embed="rId1"/>
          <a:srcRect l="53" t="63" r="42" b="206"/>
          <a:stretch>
            <a:fillRect/>
          </a:stretch>
        </p:blipFill>
        <p:spPr>
          <a:xfrm>
            <a:off x="257810" y="978535"/>
            <a:ext cx="11252835" cy="18783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150600" y="-416560"/>
            <a:ext cx="1390650" cy="1390650"/>
          </a:xfrm>
          <a:prstGeom prst="ellipse">
            <a:avLst/>
          </a:prstGeom>
          <a:solidFill>
            <a:srgbClr val="3365D6"/>
          </a:solidFill>
        </p:spPr>
      </p:sp>
      <p:sp>
        <p:nvSpPr>
          <p:cNvPr id="4" name="Text 1"/>
          <p:cNvSpPr/>
          <p:nvPr/>
        </p:nvSpPr>
        <p:spPr>
          <a:xfrm>
            <a:off x="11150600" y="-416560"/>
            <a:ext cx="1390650" cy="13906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9736455" y="4521835"/>
            <a:ext cx="3345815" cy="3345815"/>
          </a:xfrm>
          <a:prstGeom prst="ellipse">
            <a:avLst/>
          </a:prstGeom>
          <a:solidFill>
            <a:srgbClr val="3365D6"/>
          </a:solidFill>
        </p:spPr>
      </p:sp>
      <p:sp>
        <p:nvSpPr>
          <p:cNvPr id="6" name="Text 3"/>
          <p:cNvSpPr/>
          <p:nvPr/>
        </p:nvSpPr>
        <p:spPr>
          <a:xfrm>
            <a:off x="9736455" y="4521835"/>
            <a:ext cx="3345815" cy="33458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14630" y="3065780"/>
            <a:ext cx="8595995" cy="203263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3365D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iCalligraphy书法生态平台全景解析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77225" y="374650"/>
            <a:ext cx="3627755" cy="7550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3365D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2025/11/12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856220" y="851535"/>
            <a:ext cx="284480" cy="87630"/>
          </a:xfrm>
          <a:prstGeom prst="rect">
            <a:avLst/>
          </a:prstGeom>
          <a:solidFill>
            <a:srgbClr val="3365D6"/>
          </a:solidFill>
        </p:spPr>
      </p:sp>
      <p:sp>
        <p:nvSpPr>
          <p:cNvPr id="10" name="Text 7"/>
          <p:cNvSpPr/>
          <p:nvPr/>
        </p:nvSpPr>
        <p:spPr>
          <a:xfrm>
            <a:off x="7856220" y="851535"/>
            <a:ext cx="284480" cy="876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43230" y="5307330"/>
            <a:ext cx="7935595" cy="132397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3365D6"/>
              </a:gs>
              <a:gs pos="100000">
                <a:srgbClr val="2A59B8"/>
              </a:gs>
            </a:gsLst>
            <a:lin ang="0" scaled="1"/>
          </a:gradFill>
        </p:spPr>
        <p:txBody>
          <a:bodyPr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341630" y="5534660"/>
            <a:ext cx="2515235" cy="4292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1990" y="4818380"/>
            <a:ext cx="2515870" cy="4298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小组成员：</a:t>
            </a:r>
            <a:endParaRPr lang="en-US" sz="2200" b="1" dirty="0">
              <a:solidFill>
                <a:schemeClr val="tx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57810" y="2896235"/>
            <a:ext cx="11252835" cy="0"/>
          </a:xfrm>
          <a:prstGeom prst="line">
            <a:avLst/>
          </a:prstGeom>
          <a:noFill/>
          <a:ln w="28575">
            <a:solidFill>
              <a:srgbClr val="1E386B"/>
            </a:solidFill>
            <a:prstDash val="solid"/>
            <a:headEnd type="none"/>
            <a:tailEnd type="none"/>
          </a:ln>
        </p:spPr>
      </p:sp>
      <p:pic>
        <p:nvPicPr>
          <p:cNvPr id="15" name="Image 1" descr="https://kimi-img.moonshot.cn/pub/slides/slides_tmpl/image/25-09-08-13:42:53-d2v6pndnfo2stf9dk5p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6455" y="2439035"/>
            <a:ext cx="914400" cy="914400"/>
          </a:xfrm>
          <a:prstGeom prst="rect">
            <a:avLst/>
          </a:prstGeom>
        </p:spPr>
      </p:pic>
      <p:graphicFrame>
        <p:nvGraphicFramePr>
          <p:cNvPr id="23" name="表格 22"/>
          <p:cNvGraphicFramePr/>
          <p:nvPr>
            <p:custDataLst>
              <p:tags r:id="rId3"/>
            </p:custDataLst>
          </p:nvPr>
        </p:nvGraphicFramePr>
        <p:xfrm>
          <a:off x="1120140" y="5362575"/>
          <a:ext cx="6775450" cy="1113155"/>
        </p:xfrm>
        <a:graphic>
          <a:graphicData uri="http://schemas.openxmlformats.org/drawingml/2006/table">
            <a:tbl>
              <a:tblPr/>
              <a:tblGrid>
                <a:gridCol w="6775450"/>
              </a:tblGrid>
              <a:tr h="1113155">
                <a:tc>
                  <a:txBody>
                    <a:bodyPr/>
                    <a:p>
                      <a:pPr algn="l" fontAlgn="ctr"/>
                      <a:r>
                        <a:rPr lang="zh-CN" altLang="en-US" sz="320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金逸胜、林烨澄、卢嘉亮、杨毅博</a:t>
                      </a:r>
                      <a:endParaRPr lang="zh-CN" altLang="en-US" sz="3200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l" fontAlgn="ctr"/>
                      <a:r>
                        <a:rPr lang="zh-CN" altLang="en-US" sz="320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谭皓天、葛叙颉、</a:t>
                      </a:r>
                      <a:r>
                        <a:rPr lang="zh-CN" altLang="en-US" sz="320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詹海吉、</a:t>
                      </a:r>
                      <a:r>
                        <a:rPr lang="zh-CN" altLang="en-US" sz="320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刘超越</a:t>
                      </a:r>
                      <a:endParaRPr lang="zh-CN" altLang="en-US" sz="3200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0600" y="-416560"/>
            <a:ext cx="1390650" cy="1390650"/>
          </a:xfrm>
          <a:prstGeom prst="ellipse">
            <a:avLst/>
          </a:prstGeom>
          <a:solidFill>
            <a:srgbClr val="3365D6"/>
          </a:solidFill>
        </p:spPr>
      </p:sp>
      <p:sp>
        <p:nvSpPr>
          <p:cNvPr id="3" name="Text 1"/>
          <p:cNvSpPr/>
          <p:nvPr/>
        </p:nvSpPr>
        <p:spPr>
          <a:xfrm>
            <a:off x="11150600" y="-416560"/>
            <a:ext cx="1390650" cy="13906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8-13:42:53-d2v6pndnfo2stf9dk5s0.png"/>
          <p:cNvPicPr>
            <a:picLocks noChangeAspect="1"/>
          </p:cNvPicPr>
          <p:nvPr/>
        </p:nvPicPr>
        <p:blipFill>
          <a:blip r:embed="rId1"/>
          <a:srcRect t="88"/>
          <a:stretch>
            <a:fillRect/>
          </a:stretch>
        </p:blipFill>
        <p:spPr>
          <a:xfrm>
            <a:off x="6498590" y="635"/>
            <a:ext cx="7380605" cy="2857500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9-08-13:42:53-d2v6pndnfo2stf9dk5q0.png"/>
          <p:cNvPicPr>
            <a:picLocks noChangeAspect="1"/>
          </p:cNvPicPr>
          <p:nvPr/>
        </p:nvPicPr>
        <p:blipFill>
          <a:blip r:embed="rId2">
            <a:alphaModFix amt="17000"/>
          </a:blip>
          <a:stretch>
            <a:fillRect/>
          </a:stretch>
        </p:blipFill>
        <p:spPr>
          <a:xfrm rot="16200000">
            <a:off x="1887855" y="-1896110"/>
            <a:ext cx="1134110" cy="5120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-27940" y="5877560"/>
            <a:ext cx="12247880" cy="980440"/>
          </a:xfrm>
          <a:prstGeom prst="rect">
            <a:avLst/>
          </a:prstGeom>
          <a:solidFill>
            <a:srgbClr val="4874CB"/>
          </a:solidFill>
        </p:spPr>
      </p:sp>
      <p:sp>
        <p:nvSpPr>
          <p:cNvPr id="7" name="Text 3"/>
          <p:cNvSpPr/>
          <p:nvPr/>
        </p:nvSpPr>
        <p:spPr>
          <a:xfrm>
            <a:off x="-27940" y="5877560"/>
            <a:ext cx="12247880" cy="9804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10210" y="531495"/>
            <a:ext cx="2174240" cy="9759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2A59B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pic>
        <p:nvPicPr>
          <p:cNvPr id="9" name="Image 2" descr="https://kimi-img.moonshot.cn/pub/slides/slides_tmpl/image/25-09-08-13:42:53-d2v6pndnfo2stf9dk5p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9625" y="908050"/>
            <a:ext cx="1902460" cy="461645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09-08-13:42:53-d2v6pndnfo2stf9dk5q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5400" y="5876925"/>
            <a:ext cx="628015" cy="182880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9-08-13:42:53-d2v6pndnfo2stf9dk5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905" y="1318895"/>
            <a:ext cx="511810" cy="280670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-586740" y="5541645"/>
            <a:ext cx="2335530" cy="2335530"/>
          </a:xfrm>
          <a:prstGeom prst="ellipse">
            <a:avLst/>
          </a:prstGeom>
          <a:solidFill>
            <a:srgbClr val="3365D6">
              <a:alpha val="50196"/>
            </a:srgbClr>
          </a:solidFill>
        </p:spPr>
      </p:sp>
      <p:sp>
        <p:nvSpPr>
          <p:cNvPr id="13" name="Text 6"/>
          <p:cNvSpPr/>
          <p:nvPr/>
        </p:nvSpPr>
        <p:spPr>
          <a:xfrm>
            <a:off x="-586740" y="5541645"/>
            <a:ext cx="2335530" cy="23355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5" descr="https://kimi-img.moonshot.cn/pub/slides/slides_tmpl/image/25-09-08-13:42:53-d2v6pndnfo2stf9dk5q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5400" y="5139055"/>
            <a:ext cx="628015" cy="18288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660525" y="1668145"/>
            <a:ext cx="1621155" cy="98488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9000" b="1" dirty="0">
                <a:solidFill>
                  <a:srgbClr val="2A59B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1294841" y="2611755"/>
            <a:ext cx="2365324" cy="133858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产品初心与舞台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5209540" y="1668145"/>
            <a:ext cx="1621155" cy="98488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9000" b="1" dirty="0">
                <a:solidFill>
                  <a:srgbClr val="2A59B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5069205" y="2611755"/>
            <a:ext cx="2082190" cy="133858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核心场景动线</a:t>
            </a:r>
            <a:endParaRPr lang="en-US" sz="1600" dirty="0"/>
          </a:p>
        </p:txBody>
      </p:sp>
      <p:sp>
        <p:nvSpPr>
          <p:cNvPr id="19" name="Text 11"/>
          <p:cNvSpPr/>
          <p:nvPr/>
        </p:nvSpPr>
        <p:spPr>
          <a:xfrm>
            <a:off x="8567420" y="1668145"/>
            <a:ext cx="1621155" cy="98488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9000" b="1" dirty="0">
                <a:solidFill>
                  <a:srgbClr val="2A59B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8213801" y="2653030"/>
            <a:ext cx="2328393" cy="133858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关键功能解码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1657350" y="3783965"/>
            <a:ext cx="1621155" cy="98488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9000" b="1" dirty="0">
                <a:solidFill>
                  <a:srgbClr val="2A59B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14"/>
          <p:cNvSpPr/>
          <p:nvPr/>
        </p:nvSpPr>
        <p:spPr>
          <a:xfrm>
            <a:off x="1380808" y="4721225"/>
            <a:ext cx="2407285" cy="133858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数据与规则底座</a:t>
            </a: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5206365" y="3783965"/>
            <a:ext cx="1621155" cy="98488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9000" b="1" dirty="0">
                <a:solidFill>
                  <a:srgbClr val="2A59B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16"/>
          <p:cNvSpPr/>
          <p:nvPr/>
        </p:nvSpPr>
        <p:spPr>
          <a:xfrm>
            <a:off x="5066030" y="4727575"/>
            <a:ext cx="2180671" cy="133858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未来增长引擎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8564245" y="3783965"/>
            <a:ext cx="1621155" cy="98488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9000" b="1" dirty="0">
                <a:solidFill>
                  <a:srgbClr val="2A59B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8176870" y="4721225"/>
            <a:ext cx="2402254" cy="133858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落地与迭代路线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940" y="5430520"/>
            <a:ext cx="12247880" cy="1427480"/>
          </a:xfrm>
          <a:prstGeom prst="rect">
            <a:avLst/>
          </a:prstGeom>
          <a:solidFill>
            <a:srgbClr val="FAFAFA">
              <a:alpha val="12941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-27940" y="5430520"/>
            <a:ext cx="12247880" cy="14274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668905" y="1691640"/>
            <a:ext cx="6854190" cy="15671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2668905" y="1691640"/>
            <a:ext cx="6854190" cy="15671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DAE3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300" y="3372485"/>
            <a:ext cx="10840720" cy="120015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749300" y="3372485"/>
            <a:ext cx="10840720" cy="1200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产品初心与舞台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8-13:42:53-d2v6pndnfo2stf9dk5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245" y="1575435"/>
            <a:ext cx="579120" cy="658495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8-13:42:53-d2v6pndnfo2stf9dk5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4846955" y="2600325"/>
            <a:ext cx="579120" cy="65849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1160" y="580390"/>
            <a:ext cx="11081385" cy="89281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D50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书法圈三大痛点：单字提取、作品散落、交流高墙</a:t>
            </a:r>
            <a:endParaRPr lang="en-US" sz="1600" dirty="0"/>
          </a:p>
        </p:txBody>
      </p:sp>
      <p:pic>
        <p:nvPicPr>
          <p:cNvPr id="3" name="Image 0" descr="https://kimi-img.moonshot.cn/pub/slides/slides_tmpl/image/25-09-08-13:42:55-d2v6pntnfo2stf9dk6j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205" y="1814195"/>
            <a:ext cx="347345" cy="3327344"/>
          </a:xfrm>
          <a:prstGeom prst="rect">
            <a:avLst/>
          </a:prstGeom>
        </p:spPr>
      </p:pic>
      <p:pic>
        <p:nvPicPr>
          <p:cNvPr id="4" name="Image 1" descr="https://kimi-img.moonshot.cn/pub/slides/slides_tmpl/image/25-09-08-13:42:55-d2v6pntnfo2stf9dk6k0.jpeg"/>
          <p:cNvPicPr>
            <a:picLocks noChangeAspect="1"/>
          </p:cNvPicPr>
          <p:nvPr/>
        </p:nvPicPr>
        <p:blipFill>
          <a:blip r:embed="rId2"/>
          <a:srcRect t="61" b="22"/>
          <a:stretch>
            <a:fillRect/>
          </a:stretch>
        </p:blipFill>
        <p:spPr>
          <a:xfrm>
            <a:off x="7145599" y="1337084"/>
            <a:ext cx="4947920" cy="517050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244080" y="6292215"/>
            <a:ext cx="4948555" cy="575310"/>
          </a:xfrm>
          <a:prstGeom prst="rect">
            <a:avLst/>
          </a:prstGeom>
          <a:solidFill>
            <a:srgbClr val="1D50C4"/>
          </a:solidFill>
        </p:spPr>
      </p:sp>
      <p:sp>
        <p:nvSpPr>
          <p:cNvPr id="6" name="Text 2"/>
          <p:cNvSpPr/>
          <p:nvPr/>
        </p:nvSpPr>
        <p:spPr>
          <a:xfrm>
            <a:off x="7244080" y="6292215"/>
            <a:ext cx="4948555" cy="57531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Text 3"/>
          <p:cNvSpPr/>
          <p:nvPr>
            <p:custDataLst>
              <p:tags r:id="rId3"/>
            </p:custDataLst>
          </p:nvPr>
        </p:nvSpPr>
        <p:spPr>
          <a:xfrm>
            <a:off x="956310" y="1731010"/>
            <a:ext cx="517779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D50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单字提取难</a:t>
            </a:r>
            <a:endParaRPr lang="en-US" sz="1600" dirty="0"/>
          </a:p>
        </p:txBody>
      </p:sp>
      <p:sp>
        <p:nvSpPr>
          <p:cNvPr id="8" name="Shape 4"/>
          <p:cNvSpPr/>
          <p:nvPr>
            <p:custDataLst>
              <p:tags r:id="rId4"/>
            </p:custDataLst>
          </p:nvPr>
        </p:nvSpPr>
        <p:spPr>
          <a:xfrm>
            <a:off x="955675" y="2072005"/>
            <a:ext cx="5827395" cy="11226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Text 5"/>
          <p:cNvSpPr/>
          <p:nvPr>
            <p:custDataLst>
              <p:tags r:id="rId5"/>
            </p:custDataLst>
          </p:nvPr>
        </p:nvSpPr>
        <p:spPr>
          <a:xfrm>
            <a:off x="955675" y="2072005"/>
            <a:ext cx="5827395" cy="112268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algn="just">
              <a:lnSpc>
                <a:spcPct val="12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传统书法学习中，爱好者常需手动裁剪碑帖扫描图中的单字，耗时且低效。iCalligraphy平台通过自动切片技术，一键提取单字，极大提升学习效率。</a:t>
            </a:r>
            <a:endParaRPr lang="en-US" sz="1600" dirty="0"/>
          </a:p>
        </p:txBody>
      </p:sp>
      <p:sp>
        <p:nvSpPr>
          <p:cNvPr id="10" name="Text 6"/>
          <p:cNvSpPr/>
          <p:nvPr>
            <p:custDataLst>
              <p:tags r:id="rId6"/>
            </p:custDataLst>
          </p:nvPr>
        </p:nvSpPr>
        <p:spPr>
          <a:xfrm>
            <a:off x="956310" y="3301365"/>
            <a:ext cx="517779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D50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作品管理散</a:t>
            </a:r>
            <a:endParaRPr lang="en-US" sz="1600" dirty="0"/>
          </a:p>
        </p:txBody>
      </p:sp>
      <p:sp>
        <p:nvSpPr>
          <p:cNvPr id="11" name="Shape 7"/>
          <p:cNvSpPr/>
          <p:nvPr>
            <p:custDataLst>
              <p:tags r:id="rId7"/>
            </p:custDataLst>
          </p:nvPr>
        </p:nvSpPr>
        <p:spPr>
          <a:xfrm>
            <a:off x="955675" y="3642360"/>
            <a:ext cx="5857875" cy="11226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2" name="Text 8"/>
          <p:cNvSpPr/>
          <p:nvPr>
            <p:custDataLst>
              <p:tags r:id="rId8"/>
            </p:custDataLst>
          </p:nvPr>
        </p:nvSpPr>
        <p:spPr>
          <a:xfrm>
            <a:off x="955675" y="3642360"/>
            <a:ext cx="5857875" cy="112268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algn="just">
              <a:lnSpc>
                <a:spcPct val="12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个人书法习作常散落在各处，难以系统回顾。平台提供集中管理功能，将作品按风格、作者等分类，形成体系化的作品集，方便用户随时查阅。</a:t>
            </a:r>
            <a:endParaRPr lang="en-US" sz="1600" dirty="0"/>
          </a:p>
        </p:txBody>
      </p:sp>
      <p:sp>
        <p:nvSpPr>
          <p:cNvPr id="13" name="Text 9"/>
          <p:cNvSpPr/>
          <p:nvPr>
            <p:custDataLst>
              <p:tags r:id="rId9"/>
            </p:custDataLst>
          </p:nvPr>
        </p:nvSpPr>
        <p:spPr>
          <a:xfrm>
            <a:off x="956310" y="4871720"/>
            <a:ext cx="517779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D50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交流门槛高</a:t>
            </a:r>
            <a:endParaRPr lang="en-US" sz="1600" dirty="0"/>
          </a:p>
        </p:txBody>
      </p:sp>
      <p:sp>
        <p:nvSpPr>
          <p:cNvPr id="14" name="Shape 10"/>
          <p:cNvSpPr/>
          <p:nvPr>
            <p:custDataLst>
              <p:tags r:id="rId10"/>
            </p:custDataLst>
          </p:nvPr>
        </p:nvSpPr>
        <p:spPr>
          <a:xfrm>
            <a:off x="955675" y="5212715"/>
            <a:ext cx="5825490" cy="11226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5" name="Text 11"/>
          <p:cNvSpPr/>
          <p:nvPr>
            <p:custDataLst>
              <p:tags r:id="rId11"/>
            </p:custDataLst>
          </p:nvPr>
        </p:nvSpPr>
        <p:spPr>
          <a:xfrm>
            <a:off x="955675" y="5212715"/>
            <a:ext cx="5825490" cy="112268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algn="just">
              <a:lnSpc>
                <a:spcPct val="12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书法爱好者缺少垂直交流渠道，难以与作者及同好深入互动。iCalligraphy打造垂直社区，提供作品评论、点赞等功能，降低交流门槛，促进书法文化传播。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71970" y="634365"/>
            <a:ext cx="4528820" cy="5645150"/>
          </a:xfrm>
          <a:prstGeom prst="rect">
            <a:avLst/>
          </a:prstGeom>
          <a:solidFill>
            <a:srgbClr val="3365D6"/>
          </a:solidFill>
        </p:spPr>
      </p:sp>
      <p:sp>
        <p:nvSpPr>
          <p:cNvPr id="3" name="Text 1"/>
          <p:cNvSpPr/>
          <p:nvPr/>
        </p:nvSpPr>
        <p:spPr>
          <a:xfrm>
            <a:off x="6871970" y="634365"/>
            <a:ext cx="4528820" cy="56451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8-13:42:53-d2v6pndnfo2stf9dk5u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125" y="1148080"/>
            <a:ext cx="713105" cy="7131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3695"/>
            <a:ext cx="12191365" cy="154305"/>
          </a:xfrm>
          <a:prstGeom prst="rect">
            <a:avLst/>
          </a:prstGeom>
          <a:gradFill flip="none" rotWithShape="1">
            <a:gsLst>
              <a:gs pos="0">
                <a:srgbClr val="CFE1F4"/>
              </a:gs>
              <a:gs pos="2000">
                <a:srgbClr val="CFE1F4"/>
              </a:gs>
              <a:gs pos="55000">
                <a:srgbClr val="449CCE"/>
              </a:gs>
              <a:gs pos="100000">
                <a:srgbClr val="4874CB"/>
              </a:gs>
            </a:gsLst>
            <a:path path="circle">
              <a:fillToRect r="100000" b="100000"/>
            </a:path>
            <a:tileRect l="-100000" t="-100000"/>
          </a:gradFill>
        </p:spPr>
      </p:sp>
      <p:sp>
        <p:nvSpPr>
          <p:cNvPr id="6" name="Text 3"/>
          <p:cNvSpPr/>
          <p:nvPr/>
        </p:nvSpPr>
        <p:spPr>
          <a:xfrm>
            <a:off x="0" y="6703695"/>
            <a:ext cx="12191365" cy="15430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78868" y="3387867"/>
            <a:ext cx="3374390" cy="0"/>
          </a:xfrm>
          <a:prstGeom prst="line">
            <a:avLst/>
          </a:prstGeom>
          <a:noFill/>
          <a:ln w="19050">
            <a:solidFill>
              <a:srgbClr val="4874CB"/>
            </a:solidFill>
            <a:prstDash val="solid"/>
            <a:headEnd type="none"/>
            <a:tailEnd type="none"/>
          </a:ln>
        </p:spPr>
      </p:sp>
      <p:pic>
        <p:nvPicPr>
          <p:cNvPr id="8" name="Image 1" descr="https://kimi-img.moonshot.cn/pub/slides/slides_tmpl/image/25-09-08-13:42:53-d2v6pndnfo2stf9dk5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800735"/>
            <a:ext cx="597535" cy="28067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7685" y="1484630"/>
            <a:ext cx="4224020" cy="130683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4874C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目标用户画像与价值共振</a:t>
            </a:r>
            <a:endParaRPr lang="en-US" sz="1600" dirty="0"/>
          </a:p>
        </p:txBody>
      </p:sp>
      <p:pic>
        <p:nvPicPr>
          <p:cNvPr id="10" name="Image 2" descr="https://kimi-img.moonshot.cn/pub/slides/slides_tmpl/image/25-09-08-13:42:53-d2v6pndnfo2stf9dk5tg.jpeg"/>
          <p:cNvPicPr>
            <a:picLocks noChangeAspect="1"/>
          </p:cNvPicPr>
          <p:nvPr/>
        </p:nvPicPr>
        <p:blipFill>
          <a:blip r:embed="rId3"/>
          <a:srcRect t="11" b="37"/>
          <a:stretch>
            <a:fillRect/>
          </a:stretch>
        </p:blipFill>
        <p:spPr>
          <a:xfrm>
            <a:off x="6732270" y="565785"/>
            <a:ext cx="4572000" cy="564451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79120" y="2956402"/>
            <a:ext cx="3894025" cy="3077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4874C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用户价值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494030" y="3429000"/>
            <a:ext cx="4370070" cy="23888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4874C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iCalligraphy精准定位书法学习者、创作者与文化爱好者。学习者可高效获取单字资源，创作者能沉淀作品并获反馈，爱好者可沉浸式欣赏高清作品，实现三方价值共振。</a:t>
            </a:r>
            <a:endParaRPr lang="en-US" sz="2000" dirty="0">
              <a:solidFill>
                <a:srgbClr val="4874CB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940" y="5430520"/>
            <a:ext cx="12247880" cy="1427480"/>
          </a:xfrm>
          <a:prstGeom prst="rect">
            <a:avLst/>
          </a:prstGeom>
          <a:solidFill>
            <a:srgbClr val="FAFAFA">
              <a:alpha val="12941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-27940" y="5430520"/>
            <a:ext cx="12247880" cy="14274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668905" y="1691640"/>
            <a:ext cx="6854190" cy="15671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2668905" y="1691640"/>
            <a:ext cx="6854190" cy="15671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DAE3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300" y="3372485"/>
            <a:ext cx="10840720" cy="120015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749300" y="3372485"/>
            <a:ext cx="10840720" cy="1200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核心场景动线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8-13:42:53-d2v6pndnfo2stf9dk5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245" y="1575435"/>
            <a:ext cx="579120" cy="658495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8-13:42:53-d2v6pndnfo2stf9dk5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4846955" y="2600325"/>
            <a:ext cx="579120" cy="65849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445" y="1264285"/>
            <a:ext cx="10899775" cy="0"/>
          </a:xfrm>
          <a:prstGeom prst="line">
            <a:avLst/>
          </a:prstGeom>
          <a:noFill/>
          <a:ln w="28575">
            <a:solidFill>
              <a:srgbClr val="2A59B8"/>
            </a:solidFill>
            <a:prstDash val="solid"/>
            <a:headEnd type="none"/>
            <a:tailEnd type="none"/>
          </a:ln>
        </p:spPr>
      </p:sp>
      <p:pic>
        <p:nvPicPr>
          <p:cNvPr id="3" name="Image 0" descr="https://kimi-img.moonshot.cn/pub/slides/slides_tmpl/image/25-09-08-13:42:54-d2v6pnlnfo2stf9dk68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080" y="1923415"/>
            <a:ext cx="4633595" cy="5518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9940" y="435610"/>
            <a:ext cx="6780530" cy="62293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游客浏览路径：从随意逛到精准搜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3:42:54-d2v6pnlnfo2stf9dk68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080" y="3970655"/>
            <a:ext cx="4633595" cy="55181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12445" y="1923415"/>
            <a:ext cx="306070" cy="3827145"/>
          </a:xfrm>
          <a:prstGeom prst="rect">
            <a:avLst/>
          </a:prstGeom>
          <a:solidFill>
            <a:srgbClr val="3365D6"/>
          </a:solidFill>
        </p:spPr>
      </p:sp>
      <p:sp>
        <p:nvSpPr>
          <p:cNvPr id="7" name="Text 3"/>
          <p:cNvSpPr/>
          <p:nvPr/>
        </p:nvSpPr>
        <p:spPr>
          <a:xfrm>
            <a:off x="512445" y="1923415"/>
            <a:ext cx="306070" cy="38271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8" name="Image 2" descr="https://kimi-img.moonshot.cn/pub/slides/slides_tmpl/image/25-09-08-13:42:54-d2v6pnlnfo2stf9dk68g.jpeg"/>
          <p:cNvPicPr>
            <a:picLocks noChangeAspect="1"/>
          </p:cNvPicPr>
          <p:nvPr/>
        </p:nvPicPr>
        <p:blipFill>
          <a:blip r:embed="rId2"/>
          <a:srcRect t="76"/>
          <a:stretch>
            <a:fillRect/>
          </a:stretch>
        </p:blipFill>
        <p:spPr>
          <a:xfrm>
            <a:off x="6978015" y="1229021"/>
            <a:ext cx="5103193" cy="5628979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 flipH="1" flipV="1">
            <a:off x="11056781" y="0"/>
            <a:ext cx="1135219" cy="1058229"/>
          </a:xfrm>
          <a:custGeom>
            <a:avLst/>
            <a:gdLst/>
            <a:ahLst/>
            <a:cxnLst/>
            <a:rect l="l" t="t" r="r" b="b"/>
            <a:pathLst>
              <a:path w="1135219" h="1058229">
                <a:moveTo>
                  <a:pt x="1135219" y="1046802"/>
                </a:moveTo>
                <a:cubicBezTo>
                  <a:pt x="586022" y="1056325"/>
                  <a:pt x="55237" y="468490"/>
                  <a:pt x="0" y="0"/>
                </a:cubicBezTo>
                <a:lnTo>
                  <a:pt x="0" y="1058229"/>
                </a:lnTo>
                <a:lnTo>
                  <a:pt x="1017761" y="1058229"/>
                </a:lnTo>
                <a:cubicBezTo>
                  <a:pt x="1057760" y="1051246"/>
                  <a:pt x="1097124" y="1047437"/>
                  <a:pt x="1135219" y="1046802"/>
                </a:cubicBezTo>
                <a:close/>
              </a:path>
            </a:pathLst>
          </a:custGeom>
          <a:solidFill>
            <a:srgbClr val="2A59B8"/>
          </a:solidFill>
        </p:spPr>
      </p:sp>
      <p:sp>
        <p:nvSpPr>
          <p:cNvPr id="10" name="Text 5"/>
          <p:cNvSpPr/>
          <p:nvPr/>
        </p:nvSpPr>
        <p:spPr>
          <a:xfrm>
            <a:off x="11056781" y="0"/>
            <a:ext cx="1135219" cy="105822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1" name="Image 3" descr="https://kimi-img.moonshot.cn/pub/slides/slides_tmpl/image/25-09-08-13:42:54-d2v6pnlnfo2stf9dk66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940" y="6332855"/>
            <a:ext cx="762000" cy="298450"/>
          </a:xfrm>
          <a:prstGeom prst="rect">
            <a:avLst/>
          </a:prstGeom>
        </p:spPr>
      </p:pic>
      <p:pic>
        <p:nvPicPr>
          <p:cNvPr id="12" name="Image 4" descr="https://kimi-img.moonshot.cn/pub/slides/slides_tmpl/image/25-09-08-13:42:53-d2v6pndnfo2stf9dk5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6462395" y="6175375"/>
            <a:ext cx="361950" cy="41148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08710" y="1884680"/>
            <a:ext cx="4449445" cy="62293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浏览体验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896620" y="2418080"/>
            <a:ext cx="5130165" cy="15138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游客进入首页，热门与最新作品瀑布流呈现。Hover单字即弹出高清切片与信息，滚轮缩放、拖拽功能助力细节观察，沉浸式体验书法之美。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1108710" y="3931920"/>
            <a:ext cx="4449445" cy="62293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精准搜索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896620" y="4465320"/>
            <a:ext cx="5130165" cy="15138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顶部检索框支持作者、作品、风格多字段联想输入，侧边栏筛选项助力三维定位，游客10秒内找到目标内容，触发注册转化。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2:55-d2v6pntnfo2stf9dk6f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6695" y="4937125"/>
            <a:ext cx="7724775" cy="169545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3:42:55-d2v6pntnfo2stf9dk6f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6695" y="3042285"/>
            <a:ext cx="7724775" cy="16954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8-13:42:55-d2v6pntnfo2stf9dk6f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6695" y="1176020"/>
            <a:ext cx="7724775" cy="169545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8-13:42:54-d2v6pnlnfo2stf9dk6eg.jpeg"/>
          <p:cNvPicPr>
            <a:picLocks noChangeAspect="1"/>
          </p:cNvPicPr>
          <p:nvPr/>
        </p:nvPicPr>
        <p:blipFill>
          <a:blip r:embed="rId2"/>
          <a:srcRect t="18"/>
          <a:stretch>
            <a:fillRect/>
          </a:stretch>
        </p:blipFill>
        <p:spPr>
          <a:xfrm>
            <a:off x="0" y="0"/>
            <a:ext cx="3748405" cy="685800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8-13:42:55-d2v6pntnfo2stf9dk6i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749040" cy="68580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036695" y="394335"/>
            <a:ext cx="7381321" cy="62293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2A59B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注册用户闭环：收藏、创作、管理三步走</a:t>
            </a:r>
            <a:endParaRPr lang="en-US" sz="1600" dirty="0"/>
          </a:p>
        </p:txBody>
      </p:sp>
      <p:pic>
        <p:nvPicPr>
          <p:cNvPr id="8" name="Image 5" descr="https://kimi-img.moonshot.cn/pub/slides/slides_tmpl/image/25-09-08-13:42:54-d2v6pnlnfo2stf9dk6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655" y="1465580"/>
            <a:ext cx="722630" cy="722630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09-08-13:42:54-d2v6pnlnfo2stf9dk6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655" y="3239770"/>
            <a:ext cx="722630" cy="722630"/>
          </a:xfrm>
          <a:prstGeom prst="rect">
            <a:avLst/>
          </a:prstGeom>
        </p:spPr>
      </p:pic>
      <p:pic>
        <p:nvPicPr>
          <p:cNvPr id="10" name="Image 7" descr="https://kimi-img.moonshot.cn/pub/slides/slides_tmpl/image/25-09-08-13:42:55-d2v6pntnfo2stf9dk6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4655" y="5179060"/>
            <a:ext cx="722630" cy="722630"/>
          </a:xfrm>
          <a:prstGeom prst="rect">
            <a:avLst/>
          </a:prstGeom>
        </p:spPr>
      </p:pic>
      <p:pic>
        <p:nvPicPr>
          <p:cNvPr id="11" name="Image 8" descr="https://kimi-img.moonshot.cn/pub/slides/slides_tmpl/image/25-09-08-13:42:54-d2v6pnlnfo2stf9dk66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99470" y="509270"/>
            <a:ext cx="762000" cy="298450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5149296" y="1299698"/>
            <a:ext cx="5528761" cy="4809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A59B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收藏</a:t>
            </a:r>
            <a:endParaRPr lang="en-US" sz="1600" dirty="0"/>
          </a:p>
        </p:txBody>
      </p:sp>
      <p:sp>
        <p:nvSpPr>
          <p:cNvPr id="13" name="Text 2"/>
          <p:cNvSpPr/>
          <p:nvPr/>
        </p:nvSpPr>
        <p:spPr>
          <a:xfrm>
            <a:off x="5103598" y="1707496"/>
            <a:ext cx="6412026" cy="9845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注册用户可一键收藏心仪单字至多字集，支持新建命名与简介，个性化管理收藏资源，为临摹学习提供便捷。</a:t>
            </a:r>
            <a:endParaRPr lang="en-US" sz="1600" dirty="0"/>
          </a:p>
        </p:txBody>
      </p:sp>
      <p:sp>
        <p:nvSpPr>
          <p:cNvPr id="14" name="Text 3"/>
          <p:cNvSpPr/>
          <p:nvPr/>
        </p:nvSpPr>
        <p:spPr>
          <a:xfrm>
            <a:off x="5150566" y="3164058"/>
            <a:ext cx="5528761" cy="4809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A59B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创作</a:t>
            </a:r>
            <a:endParaRPr lang="en-US" sz="1600" dirty="0"/>
          </a:p>
        </p:txBody>
      </p:sp>
      <p:sp>
        <p:nvSpPr>
          <p:cNvPr id="15" name="Text 4"/>
          <p:cNvSpPr/>
          <p:nvPr/>
        </p:nvSpPr>
        <p:spPr>
          <a:xfrm>
            <a:off x="5104868" y="3571856"/>
            <a:ext cx="6412026" cy="9845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上传作品经自动分格、手动微调、信息录入后保存草稿或提交审核，24小时反馈结果，鼓励用户持续创作。</a:t>
            </a:r>
            <a:endParaRPr lang="en-US" sz="1600" dirty="0"/>
          </a:p>
        </p:txBody>
      </p:sp>
      <p:sp>
        <p:nvSpPr>
          <p:cNvPr id="16" name="Text 5"/>
          <p:cNvSpPr/>
          <p:nvPr/>
        </p:nvSpPr>
        <p:spPr>
          <a:xfrm>
            <a:off x="5150566" y="5087473"/>
            <a:ext cx="5528761" cy="4809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A59B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管理</a:t>
            </a:r>
            <a:endParaRPr lang="en-US" sz="1600" dirty="0"/>
          </a:p>
        </p:txBody>
      </p:sp>
      <p:sp>
        <p:nvSpPr>
          <p:cNvPr id="17" name="Text 6"/>
          <p:cNvSpPr/>
          <p:nvPr/>
        </p:nvSpPr>
        <p:spPr>
          <a:xfrm>
            <a:off x="5104868" y="5495271"/>
            <a:ext cx="6412026" cy="9845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个人中心聚合作品、字集与互动数据，提供修改、再提交、移除等操作，用户可随时回溯管理，形成完整闭环。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940" y="5430520"/>
            <a:ext cx="12247880" cy="1427480"/>
          </a:xfrm>
          <a:prstGeom prst="rect">
            <a:avLst/>
          </a:prstGeom>
          <a:solidFill>
            <a:srgbClr val="FAFAFA">
              <a:alpha val="12941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-27940" y="5430520"/>
            <a:ext cx="12247880" cy="14274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668905" y="1691640"/>
            <a:ext cx="6854190" cy="15671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2668905" y="1691640"/>
            <a:ext cx="6854190" cy="15671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DAE3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300" y="3372485"/>
            <a:ext cx="10840720" cy="120015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749300" y="3372485"/>
            <a:ext cx="10840720" cy="1200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关键功能解码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8-13:42:53-d2v6pndnfo2stf9dk5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245" y="1575435"/>
            <a:ext cx="579120" cy="658495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8-13:42:53-d2v6pndnfo2stf9dk5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4846955" y="2600325"/>
            <a:ext cx="579120" cy="65849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461500" cy="61163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9461500" cy="61163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-24130"/>
            <a:ext cx="2171700" cy="2167890"/>
          </a:xfrm>
          <a:prstGeom prst="rect">
            <a:avLst/>
          </a:prstGeom>
          <a:solidFill>
            <a:srgbClr val="DAE3F5"/>
          </a:solidFill>
        </p:spPr>
      </p:sp>
      <p:sp>
        <p:nvSpPr>
          <p:cNvPr id="5" name="Text 3"/>
          <p:cNvSpPr/>
          <p:nvPr/>
        </p:nvSpPr>
        <p:spPr>
          <a:xfrm>
            <a:off x="0" y="-24130"/>
            <a:ext cx="2171700" cy="216789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27760" y="636905"/>
            <a:ext cx="4511040" cy="11620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D50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自动分格与Hover切片：技术穿透体验</a:t>
            </a:r>
            <a:endParaRPr lang="en-US" sz="1600" dirty="0"/>
          </a:p>
        </p:txBody>
      </p:sp>
      <p:pic>
        <p:nvPicPr>
          <p:cNvPr id="7" name="Image 0" descr="https://kimi-img.moonshot.cn/pub/slides/slides_tmpl/image/25-09-08-13:42:54-d2v6pnlnfo2stf9dk6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" y="2508250"/>
            <a:ext cx="883920" cy="859790"/>
          </a:xfrm>
          <a:prstGeom prst="rect">
            <a:avLst/>
          </a:prstGeom>
        </p:spPr>
      </p:pic>
      <p:pic>
        <p:nvPicPr>
          <p:cNvPr id="8" name="Image 1" descr="https://kimi-img.moonshot.cn/pub/slides/slides_tmpl/image/25-09-08-13:42:54-d2v6pnlnfo2stf9dk6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400" y="2508250"/>
            <a:ext cx="926465" cy="859790"/>
          </a:xfrm>
          <a:prstGeom prst="rect">
            <a:avLst/>
          </a:prstGeom>
        </p:spPr>
      </p:pic>
      <p:pic>
        <p:nvPicPr>
          <p:cNvPr id="9" name="Image 2" descr="https://kimi-img.moonshot.cn/pub/slides/slides_tmpl/image/25-09-08-13:42:53-d2v6pndnfo2stf9dk5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196465" y="1757045"/>
            <a:ext cx="361950" cy="411480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09-08-13:42:53-d2v6pndnfo2stf9dk5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7455" y="225425"/>
            <a:ext cx="361950" cy="411480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9-08-13:42:53-d2v6pndnfo2stf9dk5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822690" y="5586730"/>
            <a:ext cx="361950" cy="411480"/>
          </a:xfrm>
          <a:prstGeom prst="rect">
            <a:avLst/>
          </a:prstGeom>
        </p:spPr>
      </p:pic>
      <p:pic>
        <p:nvPicPr>
          <p:cNvPr id="12" name="Image 5" descr="https://kimi-img.moonshot.cn/pub/slides/slides_tmpl/image/25-09-08-13:42:54-d2v6pnlnfo2stf9dk66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005" y="5611495"/>
            <a:ext cx="762000" cy="298450"/>
          </a:xfrm>
          <a:prstGeom prst="rect">
            <a:avLst/>
          </a:prstGeom>
        </p:spPr>
      </p:pic>
      <p:sp>
        <p:nvSpPr>
          <p:cNvPr id="13" name="Shape 5"/>
          <p:cNvSpPr/>
          <p:nvPr/>
        </p:nvSpPr>
        <p:spPr>
          <a:xfrm>
            <a:off x="927735" y="930910"/>
            <a:ext cx="80645" cy="559435"/>
          </a:xfrm>
          <a:prstGeom prst="rect">
            <a:avLst/>
          </a:prstGeom>
          <a:solidFill>
            <a:srgbClr val="3365D6"/>
          </a:solidFill>
        </p:spPr>
      </p:sp>
      <p:sp>
        <p:nvSpPr>
          <p:cNvPr id="14" name="Text 6"/>
          <p:cNvSpPr/>
          <p:nvPr/>
        </p:nvSpPr>
        <p:spPr>
          <a:xfrm>
            <a:off x="927735" y="930910"/>
            <a:ext cx="80645" cy="5594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1481455" y="2704465"/>
            <a:ext cx="2962910" cy="66357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D50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自动分格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1477010" y="3368040"/>
            <a:ext cx="2986405" cy="233045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1D50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系统按作品排布智能切分格子，准确率≥85%，最小格子200像素，保证单字清晰度，为后续操作提供可靠基础。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5633720" y="2704465"/>
            <a:ext cx="2962910" cy="66357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D50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Hover切片</a:t>
            </a: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5629275" y="3368040"/>
            <a:ext cx="3218180" cy="233045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1D50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Hover弹窗400×300像素居中呈现放大2倍高清切片，延迟低于300毫秒，鼠标离开100毫秒即消失，兼顾流畅与沉浸体验。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09135" y="527685"/>
            <a:ext cx="6980555" cy="14263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4400" b="1" dirty="0">
                <a:solidFill>
                  <a:srgbClr val="1D50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字集管理引擎：灵活分类与多重筛选</a:t>
            </a:r>
            <a:endParaRPr lang="en-US" sz="1600" dirty="0"/>
          </a:p>
        </p:txBody>
      </p:sp>
      <p:pic>
        <p:nvPicPr>
          <p:cNvPr id="3" name="Image 0" descr="https://kimi-img.moonshot.cn/pub/slides/slides_tmpl/image/25-09-08-13:42:54-d2v6pnlnfo2stf9dk6a0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0935" y="2305685"/>
            <a:ext cx="5278755" cy="3959860"/>
          </a:xfrm>
          <a:prstGeom prst="rect">
            <a:avLst/>
          </a:prstGeom>
        </p:spPr>
      </p:pic>
      <p:pic>
        <p:nvPicPr>
          <p:cNvPr id="4" name="Image 1" descr="https://kimi-img.moonshot.cn/pub/slides/slides_tmpl/image/25-09-08-13:42:54-d2v6pnlnfo2stf9dk6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14600"/>
            <a:ext cx="914400" cy="914400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09-08-13:42:54-d2v6pnlnfo2stf9dk6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721860"/>
            <a:ext cx="914400" cy="914400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8-13:42:54-d2v6pnlnfo2stf9dk66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27685"/>
            <a:ext cx="762000" cy="298450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12111355" y="826135"/>
            <a:ext cx="80645" cy="559435"/>
          </a:xfrm>
          <a:prstGeom prst="rect">
            <a:avLst/>
          </a:prstGeom>
          <a:solidFill>
            <a:srgbClr val="3365D6"/>
          </a:solidFill>
        </p:spPr>
      </p:sp>
      <p:sp>
        <p:nvSpPr>
          <p:cNvPr id="8" name="Text 2"/>
          <p:cNvSpPr/>
          <p:nvPr/>
        </p:nvSpPr>
        <p:spPr>
          <a:xfrm>
            <a:off x="12111355" y="826135"/>
            <a:ext cx="80645" cy="5594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1371600" y="2305685"/>
            <a:ext cx="4281170" cy="43874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1D50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灵活分类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1371600" y="2766060"/>
            <a:ext cx="4564939" cy="1462683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2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用户可无限创建字集，按作者、风格、来源三维度叠加筛选，逻辑且关系确保结果精准，满足个性化收藏需求。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1371600" y="4627245"/>
            <a:ext cx="4281170" cy="36552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D50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操作反馈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1371600" y="5087620"/>
            <a:ext cx="4281805" cy="10969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单字可在不同字集间移动或移除，操作后2秒Toast提示即时反馈，避免误操作焦虑，提升用户体验。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FFFFFF"/>
            </a:gs>
            <a:gs pos="98000">
              <a:srgbClr val="D7DDE4">
                <a:alpha val="9000"/>
              </a:srgbClr>
            </a:gs>
            <a:gs pos="100000">
              <a:srgbClr val="D7DDE4">
                <a:alpha val="9000"/>
              </a:srgb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885" y="1619250"/>
            <a:ext cx="5088890" cy="4498340"/>
          </a:xfrm>
          <a:prstGeom prst="rect">
            <a:avLst/>
          </a:prstGeom>
          <a:gradFill flip="none" rotWithShape="1">
            <a:gsLst>
              <a:gs pos="0">
                <a:srgbClr val="2A59B8"/>
              </a:gs>
              <a:gs pos="2000">
                <a:srgbClr val="2A59B8"/>
              </a:gs>
              <a:gs pos="100000">
                <a:srgbClr val="648DE0"/>
              </a:gs>
            </a:gsLst>
            <a:path path="circle">
              <a:fillToRect r="100000" b="100000"/>
            </a:path>
            <a:tileRect l="-100000" t="-100000"/>
          </a:gradFill>
        </p:spPr>
      </p:sp>
      <p:sp>
        <p:nvSpPr>
          <p:cNvPr id="3" name="Text 1"/>
          <p:cNvSpPr/>
          <p:nvPr/>
        </p:nvSpPr>
        <p:spPr>
          <a:xfrm>
            <a:off x="857885" y="1619250"/>
            <a:ext cx="5088890" cy="44983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57885" y="5929630"/>
            <a:ext cx="5088890" cy="187960"/>
          </a:xfrm>
          <a:prstGeom prst="rect">
            <a:avLst/>
          </a:prstGeom>
          <a:solidFill>
            <a:srgbClr val="DAE3F5"/>
          </a:solidFill>
        </p:spPr>
      </p:sp>
      <p:sp>
        <p:nvSpPr>
          <p:cNvPr id="5" name="Text 3"/>
          <p:cNvSpPr/>
          <p:nvPr/>
        </p:nvSpPr>
        <p:spPr>
          <a:xfrm>
            <a:off x="857885" y="5929630"/>
            <a:ext cx="5088890" cy="1879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41110" y="1618615"/>
            <a:ext cx="5088890" cy="4498340"/>
          </a:xfrm>
          <a:prstGeom prst="rect">
            <a:avLst/>
          </a:prstGeom>
          <a:gradFill flip="none" rotWithShape="1">
            <a:gsLst>
              <a:gs pos="0">
                <a:srgbClr val="2A59B8"/>
              </a:gs>
              <a:gs pos="2000">
                <a:srgbClr val="2A59B8"/>
              </a:gs>
              <a:gs pos="100000">
                <a:srgbClr val="648DE0"/>
              </a:gs>
            </a:gsLst>
            <a:path path="circle">
              <a:fillToRect r="100000" b="100000"/>
            </a:path>
            <a:tileRect l="-100000" t="-100000"/>
          </a:gradFill>
        </p:spPr>
      </p:sp>
      <p:sp>
        <p:nvSpPr>
          <p:cNvPr id="7" name="Text 5"/>
          <p:cNvSpPr/>
          <p:nvPr/>
        </p:nvSpPr>
        <p:spPr>
          <a:xfrm>
            <a:off x="6341110" y="1618615"/>
            <a:ext cx="5088890" cy="44983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9940" y="394335"/>
            <a:ext cx="9759315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作品上传与审核：效率与质量平衡</a:t>
            </a:r>
            <a:endParaRPr lang="en-US" sz="1600" dirty="0"/>
          </a:p>
        </p:txBody>
      </p:sp>
      <p:pic>
        <p:nvPicPr>
          <p:cNvPr id="9" name="Image 0" descr="https://kimi-img.moonshot.cn/pub/slides/slides_tmpl/image/25-09-08-13:42:53-d2v6pndnfo2stf9dk5q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2965" y="394335"/>
            <a:ext cx="628015" cy="182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341110" y="5928995"/>
            <a:ext cx="5088890" cy="187960"/>
          </a:xfrm>
          <a:prstGeom prst="rect">
            <a:avLst/>
          </a:prstGeom>
          <a:solidFill>
            <a:srgbClr val="DAE3F5"/>
          </a:solidFill>
        </p:spPr>
      </p:sp>
      <p:sp>
        <p:nvSpPr>
          <p:cNvPr id="11" name="Text 8"/>
          <p:cNvSpPr/>
          <p:nvPr/>
        </p:nvSpPr>
        <p:spPr>
          <a:xfrm>
            <a:off x="6341110" y="5928995"/>
            <a:ext cx="5088890" cy="1879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05435" y="1243965"/>
            <a:ext cx="11412855" cy="0"/>
          </a:xfrm>
          <a:prstGeom prst="line">
            <a:avLst/>
          </a:prstGeom>
          <a:noFill/>
          <a:ln w="28575">
            <a:solidFill>
              <a:srgbClr val="2A59B8"/>
            </a:solidFill>
            <a:prstDash val="solid"/>
            <a:headEnd type="none"/>
            <a:tailEnd type="none"/>
          </a:ln>
        </p:spPr>
      </p:sp>
      <p:pic>
        <p:nvPicPr>
          <p:cNvPr id="13" name="Image 1" descr="https://kimi-img.moonshot.cn/pub/slides/slides_tmpl/image/25-09-08-13:42:53-d2v6pndnfo2stf9dk5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454765" y="6092190"/>
            <a:ext cx="361950" cy="411480"/>
          </a:xfrm>
          <a:prstGeom prst="rect">
            <a:avLst/>
          </a:prstGeom>
        </p:spPr>
      </p:pic>
      <p:pic>
        <p:nvPicPr>
          <p:cNvPr id="14" name="Image 2" descr="https://kimi-img.moonshot.cn/pub/slides/slides_tmpl/image/25-09-08-13:42:53-d2v6pndnfo2stf9dk5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81990" y="1395730"/>
            <a:ext cx="361950" cy="411480"/>
          </a:xfrm>
          <a:prstGeom prst="rect">
            <a:avLst/>
          </a:prstGeom>
        </p:spPr>
      </p:pic>
      <p:pic>
        <p:nvPicPr>
          <p:cNvPr id="15" name="Image 3" descr="https://kimi-img.moonshot.cn/pub/slides/slides_tmpl/image/25-09-08-13:42:53-d2v6pndnfo2stf9dk5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578590" y="6222365"/>
            <a:ext cx="313690" cy="356870"/>
          </a:xfrm>
          <a:prstGeom prst="rect">
            <a:avLst/>
          </a:prstGeom>
        </p:spPr>
      </p:pic>
      <p:pic>
        <p:nvPicPr>
          <p:cNvPr id="16" name="Image 4" descr="https://kimi-img.moonshot.cn/pub/slides/slides_tmpl/image/25-09-08-13:42:54-d2v6pnlnfo2stf9dk66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940" y="6332855"/>
            <a:ext cx="762000" cy="2984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6940" y="1619250"/>
            <a:ext cx="1444625" cy="133286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6600" dirty="0">
                <a:solidFill>
                  <a:srgbClr val="FEE5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2139316" y="2087563"/>
            <a:ext cx="3339465" cy="892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上传流程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1192530" y="3080068"/>
            <a:ext cx="4284980" cy="27203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单次最多5张JPG或PNG，单张不超200MB，上传即见百分比进度，自动初筛与人工复核协同，平均24小时完成审核。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341110" y="1618615"/>
            <a:ext cx="1444625" cy="133286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6600" dirty="0">
                <a:solidFill>
                  <a:srgbClr val="FEE5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7570471" y="2087563"/>
            <a:ext cx="3339465" cy="892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草稿机制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750686" y="3080068"/>
            <a:ext cx="4284980" cy="27203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草稿7日有效并每3分钟自动保存，驳回作品可编辑再提，降低试错成本，鼓励用户持续创作。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940" y="5430520"/>
            <a:ext cx="12247880" cy="1427480"/>
          </a:xfrm>
          <a:prstGeom prst="rect">
            <a:avLst/>
          </a:prstGeom>
          <a:solidFill>
            <a:srgbClr val="FAFAFA">
              <a:alpha val="12941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-27940" y="5430520"/>
            <a:ext cx="12247880" cy="14274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668905" y="1691640"/>
            <a:ext cx="6854190" cy="15671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2668905" y="1691640"/>
            <a:ext cx="6854190" cy="15671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DAE3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300" y="3372485"/>
            <a:ext cx="10840720" cy="120015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749300" y="3372485"/>
            <a:ext cx="10840720" cy="1200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数据与规则底座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8-13:42:53-d2v6pndnfo2stf9dk5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245" y="1575435"/>
            <a:ext cx="579120" cy="658495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8-13:42:53-d2v6pndnfo2stf9dk5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4846955" y="2600325"/>
            <a:ext cx="579120" cy="65849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850" y="3806825"/>
            <a:ext cx="2858770" cy="0"/>
          </a:xfrm>
          <a:prstGeom prst="line">
            <a:avLst/>
          </a:prstGeom>
          <a:noFill/>
          <a:ln w="19050">
            <a:solidFill>
              <a:srgbClr val="1D50C4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4578985" y="3799205"/>
            <a:ext cx="2858770" cy="0"/>
          </a:xfrm>
          <a:prstGeom prst="line">
            <a:avLst/>
          </a:prstGeom>
          <a:noFill/>
          <a:ln w="19050">
            <a:solidFill>
              <a:srgbClr val="1D50C4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8518525" y="3794760"/>
            <a:ext cx="2858770" cy="0"/>
          </a:xfrm>
          <a:prstGeom prst="line">
            <a:avLst/>
          </a:prstGeom>
          <a:noFill/>
          <a:ln w="19050">
            <a:solidFill>
              <a:srgbClr val="1D50C4"/>
            </a:solidFill>
            <a:prstDash val="solid"/>
            <a:headEnd type="none"/>
            <a:tailEnd type="none"/>
          </a:ln>
        </p:spPr>
      </p:sp>
      <p:pic>
        <p:nvPicPr>
          <p:cNvPr id="5" name="Image 0" descr="https://kimi-img.moonshot.cn/pub/slides/slides_tmpl/image/25-09-08-13:42:54-d2v6pnlnfo2stf9dk6d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3685" y="4054475"/>
            <a:ext cx="12700" cy="1727200"/>
          </a:xfrm>
          <a:prstGeom prst="rect">
            <a:avLst/>
          </a:prstGeom>
        </p:spPr>
      </p:pic>
      <p:pic>
        <p:nvPicPr>
          <p:cNvPr id="6" name="Image 1" descr="https://kimi-img.moonshot.cn/pub/slides/slides_tmpl/image/25-09-08-13:42:54-d2v6pnlnfo2stf9dk6d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635" y="4054475"/>
            <a:ext cx="12700" cy="172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1495" y="2186305"/>
            <a:ext cx="1111631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2A59B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信息结构：从图片像素到关系网络</a:t>
            </a:r>
            <a:endParaRPr lang="en-US" sz="1600" dirty="0"/>
          </a:p>
        </p:txBody>
      </p:sp>
      <p:pic>
        <p:nvPicPr>
          <p:cNvPr id="8" name="Image 2" descr="https://kimi-img.moonshot.cn/pub/slides/slides_tmpl/image/25-09-08-13:42:54-d2v6pnlnfo2stf9dk6e0.jpeg"/>
          <p:cNvPicPr>
            <a:picLocks noChangeAspect="1"/>
          </p:cNvPicPr>
          <p:nvPr/>
        </p:nvPicPr>
        <p:blipFill>
          <a:blip r:embed="rId2"/>
          <a:srcRect t="140" b="140"/>
          <a:stretch>
            <a:fillRect/>
          </a:stretch>
        </p:blipFill>
        <p:spPr>
          <a:xfrm>
            <a:off x="0" y="0"/>
            <a:ext cx="12192000" cy="1999615"/>
          </a:xfrm>
          <a:prstGeom prst="rect">
            <a:avLst/>
          </a:prstGeom>
        </p:spPr>
      </p:pic>
      <p:pic>
        <p:nvPicPr>
          <p:cNvPr id="9" name="Image 3" descr="https://kimi-img.moonshot.cn/pub/slides/slides_tmpl/image/25-09-08-13:42:53-d2v6pndnfo2stf9dk5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17195" y="2110740"/>
            <a:ext cx="361950" cy="411480"/>
          </a:xfrm>
          <a:prstGeom prst="rect">
            <a:avLst/>
          </a:prstGeom>
        </p:spPr>
      </p:pic>
      <p:pic>
        <p:nvPicPr>
          <p:cNvPr id="10" name="Image 4" descr="https://kimi-img.moonshot.cn/pub/slides/slides_tmpl/image/25-09-08-13:42:53-d2v6pndnfo2stf9dk5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1445" y="2148840"/>
            <a:ext cx="361950" cy="411480"/>
          </a:xfrm>
          <a:prstGeom prst="rect">
            <a:avLst/>
          </a:prstGeom>
        </p:spPr>
      </p:pic>
      <p:pic>
        <p:nvPicPr>
          <p:cNvPr id="11" name="Image 5" descr="https://kimi-img.moonshot.cn/pub/slides/slides_tmpl/image/25-09-08-13:42:53-d2v6pndnfo2stf9dk5v0.png"/>
          <p:cNvPicPr>
            <a:picLocks noChangeAspect="1"/>
          </p:cNvPicPr>
          <p:nvPr/>
        </p:nvPicPr>
        <p:blipFill>
          <a:blip r:embed="rId4"/>
          <a:srcRect b="572"/>
          <a:stretch>
            <a:fillRect/>
          </a:stretch>
        </p:blipFill>
        <p:spPr>
          <a:xfrm>
            <a:off x="0" y="6204585"/>
            <a:ext cx="12192000" cy="653415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1102360" y="2934970"/>
            <a:ext cx="2279650" cy="10769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2A59B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作品层</a:t>
            </a:r>
            <a:endParaRPr lang="en-US" sz="1600" dirty="0"/>
          </a:p>
        </p:txBody>
      </p:sp>
      <p:sp>
        <p:nvSpPr>
          <p:cNvPr id="13" name="Text 5"/>
          <p:cNvSpPr/>
          <p:nvPr/>
        </p:nvSpPr>
        <p:spPr>
          <a:xfrm>
            <a:off x="476885" y="4004945"/>
            <a:ext cx="3335655" cy="1867535"/>
          </a:xfrm>
          <a:prstGeom prst="rect">
            <a:avLst/>
          </a:prstGeom>
          <a:noFill/>
        </p:spPr>
        <p:txBody>
          <a:bodyPr wrap="square" lIns="0" tIns="0" rIns="0" bIns="46990" rtlCol="0" anchor="t"/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3E1C0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记录作品名称、作者、风格、简介与总字数，为作品管理与展示提供基础数据支持。</a:t>
            </a:r>
            <a:endParaRPr lang="en-US" sz="1600" dirty="0"/>
          </a:p>
        </p:txBody>
      </p:sp>
      <p:sp>
        <p:nvSpPr>
          <p:cNvPr id="14" name="Text 6"/>
          <p:cNvSpPr/>
          <p:nvPr/>
        </p:nvSpPr>
        <p:spPr>
          <a:xfrm>
            <a:off x="4868545" y="2934970"/>
            <a:ext cx="2279650" cy="10769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2A59B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单字层</a:t>
            </a: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4368165" y="4004945"/>
            <a:ext cx="3335655" cy="1867535"/>
          </a:xfrm>
          <a:prstGeom prst="rect">
            <a:avLst/>
          </a:prstGeom>
          <a:noFill/>
        </p:spPr>
        <p:txBody>
          <a:bodyPr wrap="square" lIns="0" tIns="0" rIns="0" bIns="46990" rtlCol="0" anchor="t"/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3E1C0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保存单字坐标、风格、所属作品与收藏次数，精准关联单字信息，助力个性化推荐与收藏管理。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8808085" y="2934970"/>
            <a:ext cx="2279650" cy="10769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2A59B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用户层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8312150" y="4015105"/>
            <a:ext cx="3611245" cy="1867535"/>
          </a:xfrm>
          <a:prstGeom prst="rect">
            <a:avLst/>
          </a:prstGeom>
          <a:noFill/>
        </p:spPr>
        <p:txBody>
          <a:bodyPr wrap="square" lIns="0" tIns="0" rIns="0" bIns="46990" rtlCol="0" anchor="t"/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3E1C0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维护用户身份、权限、互动记录，构建用户画像，为社区运营与个性化体验提供数据基础。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940" y="5430520"/>
            <a:ext cx="12247880" cy="1427480"/>
          </a:xfrm>
          <a:prstGeom prst="rect">
            <a:avLst/>
          </a:prstGeom>
          <a:solidFill>
            <a:srgbClr val="FAFAFA">
              <a:alpha val="12941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-27940" y="5430520"/>
            <a:ext cx="12247880" cy="14274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668905" y="1691640"/>
            <a:ext cx="6854190" cy="15671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2668905" y="1691640"/>
            <a:ext cx="6854190" cy="15671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DAE3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300" y="3372485"/>
            <a:ext cx="10840720" cy="120015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749300" y="3372485"/>
            <a:ext cx="10840720" cy="1200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未来增长引擎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8-13:42:53-d2v6pndnfo2stf9dk5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245" y="1575435"/>
            <a:ext cx="579120" cy="658495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8-13:42:53-d2v6pndnfo2stf9dk5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4846955" y="2600325"/>
            <a:ext cx="579120" cy="65849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9440" y="465455"/>
            <a:ext cx="6780530" cy="62293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工具与课程扩张：从平台到生态</a:t>
            </a:r>
            <a:endParaRPr lang="en-US" sz="1600" dirty="0"/>
          </a:p>
        </p:txBody>
      </p:sp>
      <p:pic>
        <p:nvPicPr>
          <p:cNvPr id="3" name="Image 0" descr="https://kimi-img.moonshot.cn/pub/slides/slides_tmpl/image/25-09-08-13:42:53-d2v6pndnfo2stf9dk5q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2485" y="394335"/>
            <a:ext cx="628015" cy="182880"/>
          </a:xfrm>
          <a:prstGeom prst="rect">
            <a:avLst/>
          </a:prstGeom>
        </p:spPr>
      </p:pic>
      <p:pic>
        <p:nvPicPr>
          <p:cNvPr id="4" name="Image 1" descr="https://kimi-img.moonshot.cn/pub/slides/slides_tmpl/image/25-09-08-13:42:54-d2v6pnlnfo2stf9dk6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40" y="1576070"/>
            <a:ext cx="280670" cy="162750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09-08-13:42:54-d2v6pnlnfo2stf9dk6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40" y="3989070"/>
            <a:ext cx="280670" cy="162750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8-13:42:53-d2v6pndnfo2stf9dk5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426825" y="1186815"/>
            <a:ext cx="428625" cy="487680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8-13:42:53-d2v6pndnfo2stf9dk5v0.png"/>
          <p:cNvPicPr>
            <a:picLocks noChangeAspect="1"/>
          </p:cNvPicPr>
          <p:nvPr/>
        </p:nvPicPr>
        <p:blipFill>
          <a:blip r:embed="rId4"/>
          <a:srcRect b="572"/>
          <a:stretch>
            <a:fillRect/>
          </a:stretch>
        </p:blipFill>
        <p:spPr>
          <a:xfrm>
            <a:off x="0" y="6204585"/>
            <a:ext cx="12192000" cy="653415"/>
          </a:xfrm>
          <a:prstGeom prst="rect">
            <a:avLst/>
          </a:prstGeom>
        </p:spPr>
      </p:pic>
      <p:sp>
        <p:nvSpPr>
          <p:cNvPr id="8" name="Shape 1"/>
          <p:cNvSpPr/>
          <p:nvPr/>
        </p:nvSpPr>
        <p:spPr>
          <a:xfrm>
            <a:off x="-9525" y="-8255"/>
            <a:ext cx="12200890" cy="207645"/>
          </a:xfrm>
          <a:prstGeom prst="rect">
            <a:avLst/>
          </a:prstGeom>
          <a:solidFill>
            <a:srgbClr val="3365D6"/>
          </a:solidFill>
        </p:spPr>
      </p:sp>
      <p:sp>
        <p:nvSpPr>
          <p:cNvPr id="9" name="Text 2"/>
          <p:cNvSpPr/>
          <p:nvPr/>
        </p:nvSpPr>
        <p:spPr>
          <a:xfrm>
            <a:off x="-9525" y="-8255"/>
            <a:ext cx="12200890" cy="2076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0" name="Image 5" descr="https://kimi-img.moonshot.cn/pub/slides/slides_tmpl/image/25-09-08-13:42:55-d2v6pntnfo2stf9dk6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5850" y="1402715"/>
            <a:ext cx="5689600" cy="4415155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810260" y="1379855"/>
            <a:ext cx="4449445" cy="62293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3869A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工具扩张</a:t>
            </a:r>
            <a:endParaRPr lang="en-US" sz="1600" dirty="0"/>
          </a:p>
        </p:txBody>
      </p:sp>
      <p:sp>
        <p:nvSpPr>
          <p:cNvPr id="12" name="Text 4"/>
          <p:cNvSpPr/>
          <p:nvPr/>
        </p:nvSpPr>
        <p:spPr>
          <a:xfrm>
            <a:off x="810260" y="1867535"/>
            <a:ext cx="5130165" cy="21945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字形比对工具允许上传习作与碑帖单字叠加差异标注，导出PDF字帖功能支持离线临摹，满足用户多样化需求。</a:t>
            </a:r>
            <a:endParaRPr lang="en-US" sz="1600" dirty="0"/>
          </a:p>
        </p:txBody>
      </p:sp>
      <p:sp>
        <p:nvSpPr>
          <p:cNvPr id="13" name="Text 5"/>
          <p:cNvSpPr/>
          <p:nvPr/>
        </p:nvSpPr>
        <p:spPr>
          <a:xfrm>
            <a:off x="810260" y="3810000"/>
            <a:ext cx="4449445" cy="62293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3869A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课程扩张</a:t>
            </a:r>
            <a:endParaRPr lang="en-US" sz="1600" dirty="0"/>
          </a:p>
        </p:txBody>
      </p:sp>
      <p:sp>
        <p:nvSpPr>
          <p:cNvPr id="14" name="Text 6"/>
          <p:cNvSpPr/>
          <p:nvPr/>
        </p:nvSpPr>
        <p:spPr>
          <a:xfrm>
            <a:off x="810260" y="4341495"/>
            <a:ext cx="5130165" cy="21945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外部书法课程接入后，系统自动推荐配套单字，实现学、练、展一体，拓展多元收入与用户生命周期。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940" y="5430520"/>
            <a:ext cx="12247880" cy="1427480"/>
          </a:xfrm>
          <a:prstGeom prst="rect">
            <a:avLst/>
          </a:prstGeom>
          <a:solidFill>
            <a:srgbClr val="FAFAFA">
              <a:alpha val="12941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-27940" y="5430520"/>
            <a:ext cx="12247880" cy="14274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668905" y="1691640"/>
            <a:ext cx="6854190" cy="15671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2668905" y="1691640"/>
            <a:ext cx="6854190" cy="15671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DAE3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300" y="3372485"/>
            <a:ext cx="10840720" cy="120015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749300" y="3372485"/>
            <a:ext cx="10840720" cy="1200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落地与迭代路线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8-13:42:53-d2v6pndnfo2stf9dk5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245" y="1575435"/>
            <a:ext cx="579120" cy="658495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8-13:42:53-d2v6pndnfo2stf9dk5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4846955" y="2600325"/>
            <a:ext cx="579120" cy="65849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2:54-d2v6pnlnfo2stf9dk62g.png"/>
          <p:cNvPicPr>
            <a:picLocks noChangeAspect="1"/>
          </p:cNvPicPr>
          <p:nvPr/>
        </p:nvPicPr>
        <p:blipFill>
          <a:blip r:embed="rId1">
            <a:alphaModFix amt="11000"/>
          </a:blip>
          <a:stretch>
            <a:fillRect/>
          </a:stretch>
        </p:blipFill>
        <p:spPr>
          <a:xfrm rot="16200000">
            <a:off x="5605145" y="388620"/>
            <a:ext cx="322135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3:42:55-d2v6pntnfo2stf9dk6n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3715" y="4013835"/>
            <a:ext cx="4371975" cy="245999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8-13:42:55-d2v6pntnfo2stf9dk6o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455" y="1185545"/>
            <a:ext cx="4729480" cy="266065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8-13:42:53-d2v6pndnfo2stf9dk5v0.png"/>
          <p:cNvPicPr>
            <a:picLocks noChangeAspect="1"/>
          </p:cNvPicPr>
          <p:nvPr/>
        </p:nvPicPr>
        <p:blipFill>
          <a:blip r:embed="rId4"/>
          <a:srcRect b="572"/>
          <a:stretch>
            <a:fillRect/>
          </a:stretch>
        </p:blipFill>
        <p:spPr>
          <a:xfrm rot="10800000">
            <a:off x="0" y="0"/>
            <a:ext cx="12192000" cy="101727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8-13:42:55-d2v6pntnfo2stf9dk6p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690" y="3627120"/>
            <a:ext cx="4114800" cy="2846705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09-08-13:42:53-d2v6pndnfo2stf9dk5q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2965" y="6473825"/>
            <a:ext cx="628015" cy="18288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789940" y="309245"/>
            <a:ext cx="6780530" cy="62293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MVP到规模化的节奏控制</a:t>
            </a:r>
            <a:endParaRPr lang="en-US" sz="1600" dirty="0"/>
          </a:p>
        </p:txBody>
      </p:sp>
      <p:pic>
        <p:nvPicPr>
          <p:cNvPr id="9" name="Image 6" descr="https://kimi-img.moonshot.cn/pub/slides/slides_tmpl/image/25-09-08-13:42:55-d2v6pntnfo2stf9dk6p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040" y="1464310"/>
            <a:ext cx="6114415" cy="2200910"/>
          </a:xfrm>
          <a:prstGeom prst="rect">
            <a:avLst/>
          </a:prstGeom>
        </p:spPr>
      </p:pic>
      <p:pic>
        <p:nvPicPr>
          <p:cNvPr id="10" name="Image 7" descr="https://kimi-img.moonshot.cn/pub/slides/slides_tmpl/image/25-09-08-13:42:55-d2v6pntnfo2stf9dk6q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4395" y="3665220"/>
            <a:ext cx="4639310" cy="2828290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628189" y="1663533"/>
            <a:ext cx="5899611" cy="368329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874C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首期目标</a:t>
            </a:r>
            <a:endParaRPr lang="en-US" sz="1600" dirty="0"/>
          </a:p>
        </p:txBody>
      </p:sp>
      <p:sp>
        <p:nvSpPr>
          <p:cNvPr id="12" name="Text 2"/>
          <p:cNvSpPr/>
          <p:nvPr/>
        </p:nvSpPr>
        <p:spPr>
          <a:xfrm>
            <a:off x="628015" y="1986280"/>
            <a:ext cx="5395595" cy="138366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首期聚焦作品展示、单字收藏、上传审核三大核心，确保浏览-收藏-创作闭环跑通，奠定平台基础。</a:t>
            </a:r>
            <a:endParaRPr lang="en-US" sz="1600" dirty="0"/>
          </a:p>
        </p:txBody>
      </p:sp>
      <p:sp>
        <p:nvSpPr>
          <p:cNvPr id="13" name="Text 3"/>
          <p:cNvSpPr/>
          <p:nvPr/>
        </p:nvSpPr>
        <p:spPr>
          <a:xfrm>
            <a:off x="577215" y="3895090"/>
            <a:ext cx="3708400" cy="53848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4874C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二期规划</a:t>
            </a:r>
            <a:endParaRPr lang="en-US" sz="1600" dirty="0"/>
          </a:p>
        </p:txBody>
      </p:sp>
      <p:sp>
        <p:nvSpPr>
          <p:cNvPr id="14" name="Text 4"/>
          <p:cNvSpPr/>
          <p:nvPr/>
        </p:nvSpPr>
        <p:spPr>
          <a:xfrm>
            <a:off x="609600" y="4314825"/>
            <a:ext cx="3667760" cy="170688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二期引入社区互动与AI推荐，提升留存与内容分发效率，加速用户增长与内容生态繁荣。</a:t>
            </a:r>
            <a:endParaRPr lang="en-US" sz="1600" dirty="0"/>
          </a:p>
        </p:txBody>
      </p:sp>
      <p:sp>
        <p:nvSpPr>
          <p:cNvPr id="15" name="Text 5"/>
          <p:cNvSpPr/>
          <p:nvPr/>
        </p:nvSpPr>
        <p:spPr>
          <a:xfrm>
            <a:off x="7425690" y="3855720"/>
            <a:ext cx="3708400" cy="53848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4874C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三期展望</a:t>
            </a:r>
            <a:endParaRPr lang="en-US" sz="1600" dirty="0"/>
          </a:p>
        </p:txBody>
      </p:sp>
      <p:sp>
        <p:nvSpPr>
          <p:cNvPr id="16" name="Text 6"/>
          <p:cNvSpPr/>
          <p:nvPr/>
        </p:nvSpPr>
        <p:spPr>
          <a:xfrm>
            <a:off x="7483475" y="4326255"/>
            <a:ext cx="4121150" cy="170688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三期上线比对工具与课程合作，实现工具付费与B2B2C分成，拓展多元收入与用户生命周期。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461500" cy="61163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-24130"/>
            <a:ext cx="2171700" cy="2167890"/>
          </a:xfrm>
          <a:prstGeom prst="rect">
            <a:avLst/>
          </a:prstGeom>
          <a:solidFill>
            <a:srgbClr val="DAE3F5"/>
          </a:solidFill>
        </p:spPr>
      </p:sp>
      <p:sp>
        <p:nvSpPr>
          <p:cNvPr id="4" name="Text 2"/>
          <p:cNvSpPr/>
          <p:nvPr/>
        </p:nvSpPr>
        <p:spPr>
          <a:xfrm>
            <a:off x="0" y="-24130"/>
            <a:ext cx="2171700" cy="216789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7760" y="636905"/>
            <a:ext cx="4511040" cy="11620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D50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跨团队协同与风险前置</a:t>
            </a:r>
            <a:endParaRPr lang="en-US" sz="1600" dirty="0"/>
          </a:p>
        </p:txBody>
      </p:sp>
      <p:pic>
        <p:nvPicPr>
          <p:cNvPr id="6" name="Image 0" descr="https://kimi-img.moonshot.cn/pub/slides/slides_tmpl/image/25-09-08-13:42:54-d2v6pnlnfo2stf9dk6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" y="2508250"/>
            <a:ext cx="883920" cy="859790"/>
          </a:xfrm>
          <a:prstGeom prst="rect">
            <a:avLst/>
          </a:prstGeom>
        </p:spPr>
      </p:pic>
      <p:pic>
        <p:nvPicPr>
          <p:cNvPr id="7" name="Image 1" descr="https://kimi-img.moonshot.cn/pub/slides/slides_tmpl/image/25-09-08-13:42:54-d2v6pnlnfo2stf9dk6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400" y="2508250"/>
            <a:ext cx="926465" cy="859790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9-08-13:42:53-d2v6pndnfo2stf9dk5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196465" y="1757045"/>
            <a:ext cx="361950" cy="411480"/>
          </a:xfrm>
          <a:prstGeom prst="rect">
            <a:avLst/>
          </a:prstGeom>
        </p:spPr>
      </p:pic>
      <p:pic>
        <p:nvPicPr>
          <p:cNvPr id="9" name="Image 3" descr="https://kimi-img.moonshot.cn/pub/slides/slides_tmpl/image/25-09-08-13:42:53-d2v6pndnfo2stf9dk5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7455" y="225425"/>
            <a:ext cx="361950" cy="411480"/>
          </a:xfrm>
          <a:prstGeom prst="rect">
            <a:avLst/>
          </a:prstGeom>
        </p:spPr>
      </p:pic>
      <p:pic>
        <p:nvPicPr>
          <p:cNvPr id="10" name="Image 4" descr="https://kimi-img.moonshot.cn/pub/slides/slides_tmpl/image/25-09-08-13:42:53-d2v6pndnfo2stf9dk5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822690" y="5586730"/>
            <a:ext cx="361950" cy="411480"/>
          </a:xfrm>
          <a:prstGeom prst="rect">
            <a:avLst/>
          </a:prstGeom>
        </p:spPr>
      </p:pic>
      <p:pic>
        <p:nvPicPr>
          <p:cNvPr id="11" name="Image 5" descr="https://kimi-img.moonshot.cn/pub/slides/slides_tmpl/image/25-09-08-13:42:54-d2v6pnlnfo2stf9dk66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005" y="5611495"/>
            <a:ext cx="762000" cy="298450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927735" y="930910"/>
            <a:ext cx="80645" cy="559435"/>
          </a:xfrm>
          <a:prstGeom prst="rect">
            <a:avLst/>
          </a:prstGeom>
          <a:solidFill>
            <a:srgbClr val="3365D6"/>
          </a:solidFill>
        </p:spPr>
      </p:sp>
      <p:sp>
        <p:nvSpPr>
          <p:cNvPr id="13" name="Text 5"/>
          <p:cNvSpPr/>
          <p:nvPr/>
        </p:nvSpPr>
        <p:spPr>
          <a:xfrm>
            <a:off x="927735" y="930910"/>
            <a:ext cx="80645" cy="5594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6"/>
          <p:cNvSpPr/>
          <p:nvPr/>
        </p:nvSpPr>
        <p:spPr>
          <a:xfrm>
            <a:off x="1481455" y="2704465"/>
            <a:ext cx="2962910" cy="66357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D50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协同机制</a:t>
            </a: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1477010" y="3368040"/>
            <a:ext cx="3232609" cy="233045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1D50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产品、研发、设计、运营、测试团队紧密协作，依据数据模型与接口规范实施，确保迭代节奏可控。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5633720" y="2704465"/>
            <a:ext cx="2962910" cy="66357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D50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风险应对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5629275" y="3368040"/>
            <a:ext cx="3218180" cy="233045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1D50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预设人工复核、模型冷启动与社区治理方案，应对版权争议、AI准确率不足、社区低质内容等风险。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2:56-d2v6po5nfo2stf9dk7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050" y="939800"/>
            <a:ext cx="7175500" cy="49784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3:42:56-d2v6po5nfo2stf9dk73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595" y="3017520"/>
            <a:ext cx="4368800" cy="3149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8-13:42:56-d2v6po5nfo2stf9dk76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1520000">
            <a:off x="10471785" y="-925195"/>
            <a:ext cx="2444750" cy="24447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78840" y="1196975"/>
            <a:ext cx="10705465" cy="65976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2025/11/12</a:t>
            </a:r>
            <a:endParaRPr lang="en-US" sz="1600" dirty="0"/>
          </a:p>
        </p:txBody>
      </p:sp>
      <p:sp>
        <p:nvSpPr>
          <p:cNvPr id="6" name="Shape 1"/>
          <p:cNvSpPr/>
          <p:nvPr/>
        </p:nvSpPr>
        <p:spPr>
          <a:xfrm flipH="1">
            <a:off x="4814570" y="3940175"/>
            <a:ext cx="6555740" cy="0"/>
          </a:xfrm>
          <a:prstGeom prst="line">
            <a:avLst/>
          </a:prstGeom>
          <a:noFill/>
          <a:ln w="38100">
            <a:solidFill>
              <a:srgbClr val="FAFAFA"/>
            </a:solidFill>
            <a:prstDash val="solid"/>
            <a:headEnd type="none"/>
            <a:tailEnd type="none"/>
          </a:ln>
        </p:spPr>
      </p:sp>
      <p:sp>
        <p:nvSpPr>
          <p:cNvPr id="7" name="Text 2"/>
          <p:cNvSpPr/>
          <p:nvPr/>
        </p:nvSpPr>
        <p:spPr>
          <a:xfrm>
            <a:off x="4965065" y="1872615"/>
            <a:ext cx="6619240" cy="232600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100000"/>
              </a:lnSpc>
            </a:pPr>
            <a:r>
              <a:rPr lang="en-US" sz="6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  <a:p>
            <a:pPr algn="r">
              <a:lnSpc>
                <a:spcPct val="100000"/>
              </a:lnSpc>
            </a:pPr>
            <a:r>
              <a:rPr lang="en-US" sz="8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TABLE_ENDDRAG_ORIGIN_RECT" val="533*87"/>
  <p:tag name="TABLE_ENDDRAG_RECT" val="88*422*533*87"/>
</p:tagLst>
</file>

<file path=ppt/tags/tag2.xml><?xml version="1.0" encoding="utf-8"?>
<p:tagLst xmlns:p="http://schemas.openxmlformats.org/presentationml/2006/main">
  <p:tag name="KSO_WM_DIAGRAM_VIRTUALLY_FRAME" val="{&quot;height&quot;:362.55,&quot;left&quot;:75.25,&quot;top&quot;:136.3,&quot;width&quot;:461.25}"/>
</p:tagLst>
</file>

<file path=ppt/tags/tag3.xml><?xml version="1.0" encoding="utf-8"?>
<p:tagLst xmlns:p="http://schemas.openxmlformats.org/presentationml/2006/main">
  <p:tag name="KSO_WM_DIAGRAM_VIRTUALLY_FRAME" val="{&quot;height&quot;:362.55,&quot;left&quot;:75.25,&quot;top&quot;:136.3,&quot;width&quot;:461.25}"/>
</p:tagLst>
</file>

<file path=ppt/tags/tag4.xml><?xml version="1.0" encoding="utf-8"?>
<p:tagLst xmlns:p="http://schemas.openxmlformats.org/presentationml/2006/main">
  <p:tag name="KSO_WM_DIAGRAM_VIRTUALLY_FRAME" val="{&quot;height&quot;:362.55,&quot;left&quot;:75.25,&quot;top&quot;:136.3,&quot;width&quot;:461.25}"/>
</p:tagLst>
</file>

<file path=ppt/tags/tag5.xml><?xml version="1.0" encoding="utf-8"?>
<p:tagLst xmlns:p="http://schemas.openxmlformats.org/presentationml/2006/main">
  <p:tag name="KSO_WM_DIAGRAM_VIRTUALLY_FRAME" val="{&quot;height&quot;:362.55,&quot;left&quot;:75.25,&quot;top&quot;:136.3,&quot;width&quot;:461.25}"/>
</p:tagLst>
</file>

<file path=ppt/tags/tag6.xml><?xml version="1.0" encoding="utf-8"?>
<p:tagLst xmlns:p="http://schemas.openxmlformats.org/presentationml/2006/main">
  <p:tag name="KSO_WM_DIAGRAM_VIRTUALLY_FRAME" val="{&quot;height&quot;:362.55,&quot;left&quot;:75.25,&quot;top&quot;:136.3,&quot;width&quot;:461.25}"/>
</p:tagLst>
</file>

<file path=ppt/tags/tag7.xml><?xml version="1.0" encoding="utf-8"?>
<p:tagLst xmlns:p="http://schemas.openxmlformats.org/presentationml/2006/main">
  <p:tag name="KSO_WM_DIAGRAM_VIRTUALLY_FRAME" val="{&quot;height&quot;:362.55,&quot;left&quot;:75.25,&quot;top&quot;:136.3,&quot;width&quot;:461.25}"/>
</p:tagLst>
</file>

<file path=ppt/tags/tag8.xml><?xml version="1.0" encoding="utf-8"?>
<p:tagLst xmlns:p="http://schemas.openxmlformats.org/presentationml/2006/main">
  <p:tag name="KSO_WM_DIAGRAM_VIRTUALLY_FRAME" val="{&quot;height&quot;:362.55,&quot;left&quot;:75.25,&quot;top&quot;:136.3,&quot;width&quot;:461.25}"/>
</p:tagLst>
</file>

<file path=ppt/tags/tag9.xml><?xml version="1.0" encoding="utf-8"?>
<p:tagLst xmlns:p="http://schemas.openxmlformats.org/presentationml/2006/main">
  <p:tag name="KSO_WM_DIAGRAM_VIRTUALLY_FRAME" val="{&quot;height&quot;:362.55,&quot;left&quot;:75.25,&quot;top&quot;:136.3,&quot;width&quot;:461.25}"/>
</p:tagLst>
</file>

<file path=ppt/tags/tag10.xml><?xml version="1.0" encoding="utf-8"?>
<p:tagLst xmlns:p="http://schemas.openxmlformats.org/presentationml/2006/main">
  <p:tag name="KSO_WM_DIAGRAM_VIRTUALLY_FRAME" val="{&quot;height&quot;:362.55,&quot;left&quot;:75.25,&quot;top&quot;:136.3,&quot;width&quot;:461.25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1757</Words>
  <Application>WPS 演示</Application>
  <PresentationFormat>On-screen Show (16:9)</PresentationFormat>
  <Paragraphs>190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Arial</vt:lpstr>
      <vt:lpstr>宋体</vt:lpstr>
      <vt:lpstr>Wingdings</vt:lpstr>
      <vt:lpstr>MiSans</vt:lpstr>
      <vt:lpstr>MiSans</vt:lpstr>
      <vt:lpstr>Calibri</vt:lpstr>
      <vt:lpstr>微软雅黑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iCalligraphy书法生态平台全景解析</dc:title>
  <dc:creator>Kimi</dc:creator>
  <dc:subject>iCalligraphy书法生态平台全景解析</dc:subject>
  <cp:lastModifiedBy>WPS_1692686761</cp:lastModifiedBy>
  <cp:revision>5</cp:revision>
  <dcterms:created xsi:type="dcterms:W3CDTF">2025-11-10T15:07:00Z</dcterms:created>
  <dcterms:modified xsi:type="dcterms:W3CDTF">2025-11-10T15:34:09Z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{"Label":"iCalligraphy书法生态平台全景解析","ContentProducer":"001191110108MACG2KBH8F10000","ProduceID":"d48vikq1ol7hk9i47jm0","ReservedCode1":"","ContentPropagator":"001191110108MACG2KBH8F20000","PropagateID":"d48vikq1ol7hk9i47jm0","ReservedCode2":""}</vt:lpwstr>
  </property>
  <property fmtid="{D5CDD505-2E9C-101B-9397-08002B2CF9AE}" pid="3" name="ICV">
    <vt:lpwstr>C596FB7269494489BEFE6B537B6A350B_12</vt:lpwstr>
  </property>
  <property fmtid="{D5CDD505-2E9C-101B-9397-08002B2CF9AE}" pid="4" name="KSOProductBuildVer">
    <vt:lpwstr>2052-12.1.0.23542</vt:lpwstr>
  </property>
</Properties>
</file>